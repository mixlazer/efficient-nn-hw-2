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f039a6203042eb" /><Relationship Type="http://schemas.openxmlformats.org/officeDocument/2006/relationships/extended-properties" Target="/docProps/app.xml" Id="Rff8e9dbc1d1b4cb4" /><Relationship Type="http://schemas.openxmlformats.org/officeDocument/2006/relationships/officeDocument" Target="/ppt/presentation.xml" Id="R5cacf07e6b614442" /></Relationships>
</file>

<file path=ppt/presentation.xml><?xml version="1.0" encoding="utf-8"?>
<p:presentation xmlns:p="http://schemas.openxmlformats.org/presentationml/2006/main">
  <p:sldMasterIdLst>
    <p:sldMasterId xmlns:r="http://schemas.openxmlformats.org/officeDocument/2006/relationships" id="2147483648" r:id="R1eeb0c3019314fa7"/>
  </p:sldMasterIdLst>
  <p:notesMasterIdLst>
    <p:notesMasterId xmlns:r="http://schemas.openxmlformats.org/officeDocument/2006/relationships" r:id="R921b00268aac490d"/>
  </p:notesMasterIdLst>
  <p:sldIdLst>
    <p:sldId xmlns:r="http://schemas.openxmlformats.org/officeDocument/2006/relationships" id="256" r:id="R0e1cda0f2e22406d"/>
    <p:sldId xmlns:r="http://schemas.openxmlformats.org/officeDocument/2006/relationships" id="257" r:id="Rd7f763da57774442"/>
    <p:sldId xmlns:r="http://schemas.openxmlformats.org/officeDocument/2006/relationships" id="258" r:id="Ree5b72baa9334573"/>
    <p:sldId xmlns:r="http://schemas.openxmlformats.org/officeDocument/2006/relationships" id="259" r:id="R5e5a454044e74c76"/>
    <p:sldId xmlns:r="http://schemas.openxmlformats.org/officeDocument/2006/relationships" id="260" r:id="R2424a22d515b4490"/>
    <p:sldId xmlns:r="http://schemas.openxmlformats.org/officeDocument/2006/relationships" id="261" r:id="R4aadcc1b3cf84b64"/>
    <p:sldId xmlns:r="http://schemas.openxmlformats.org/officeDocument/2006/relationships" id="262" r:id="Ra11574b7d92d4c5f"/>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3877311eca4ea6" /><Relationship Type="http://schemas.openxmlformats.org/officeDocument/2006/relationships/slideMaster" Target="/ppt/slideMasters/slideMaster1.xml" Id="R1eeb0c3019314fa7" /><Relationship Type="http://schemas.openxmlformats.org/officeDocument/2006/relationships/notesMaster" Target="/ppt/notesMasters/notesMaster1.xml" Id="R921b00268aac490d" /><Relationship Type="http://schemas.openxmlformats.org/officeDocument/2006/relationships/presProps" Target="/ppt/presProps.xml" Id="Rfd1f6ef14da14d2e" /><Relationship Type="http://schemas.openxmlformats.org/officeDocument/2006/relationships/tableStyles" Target="/ppt/tableStyles.xml" Id="R6911345080e24d37" /><Relationship Type="http://schemas.openxmlformats.org/officeDocument/2006/relationships/slide" Target="/ppt/slides/slide1.xml" Id="R0e1cda0f2e22406d" /><Relationship Type="http://schemas.openxmlformats.org/officeDocument/2006/relationships/slide" Target="/ppt/slides/slide2.xml" Id="Rd7f763da57774442" /><Relationship Type="http://schemas.openxmlformats.org/officeDocument/2006/relationships/slide" Target="/ppt/slides/slide3.xml" Id="Ree5b72baa9334573" /><Relationship Type="http://schemas.openxmlformats.org/officeDocument/2006/relationships/slide" Target="/ppt/slides/slide4.xml" Id="R5e5a454044e74c76" /><Relationship Type="http://schemas.openxmlformats.org/officeDocument/2006/relationships/slide" Target="/ppt/slides/slide5.xml" Id="R2424a22d515b4490" /><Relationship Type="http://schemas.openxmlformats.org/officeDocument/2006/relationships/slide" Target="/ppt/slides/slide6.xml" Id="R4aadcc1b3cf84b64" /><Relationship Type="http://schemas.openxmlformats.org/officeDocument/2006/relationships/slide" Target="/ppt/slides/slide7.xml" Id="Ra11574b7d92d4c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27963e43884b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e525d121f34924" /><Relationship Type="http://schemas.openxmlformats.org/officeDocument/2006/relationships/notesMaster" Target="/ppt/notesMasters/notesMaster1.xml" Id="R5fde5f1773e24d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929294afad4a72" /><Relationship Type="http://schemas.openxmlformats.org/officeDocument/2006/relationships/notesMaster" Target="/ppt/notesMasters/notesMaster1.xml" Id="R8a016b3091804c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50e9d7bb914254" /><Relationship Type="http://schemas.openxmlformats.org/officeDocument/2006/relationships/notesMaster" Target="/ppt/notesMasters/notesMaster1.xml" Id="Rb309661156db4c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ea9b4057f94926" /><Relationship Type="http://schemas.openxmlformats.org/officeDocument/2006/relationships/notesMaster" Target="/ppt/notesMasters/notesMaster1.xml" Id="Rc69bc666a96943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ef5de5db4a4e7c" /><Relationship Type="http://schemas.openxmlformats.org/officeDocument/2006/relationships/notesMaster" Target="/ppt/notesMasters/notesMaster1.xml" Id="Ra37606cef2e949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afdb0d063e4266" /><Relationship Type="http://schemas.openxmlformats.org/officeDocument/2006/relationships/notesMaster" Target="/ppt/notesMasters/notesMaster1.xml" Id="Rb6abfb435c5047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c0144d7c234e32" /><Relationship Type="http://schemas.openxmlformats.org/officeDocument/2006/relationships/notesMaster" Target="/ppt/notesMasters/notesMaster1.xml" Id="Re15b2b03f0e941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Объяснение исправленной второй версии статьи Paul, Ganguli, Dziugaite (2023). Сравниваются случайный отбор и отбор EL2N на половине CIFAR-10. Итоговые обучения ещё выполняются; успешность воспроизведения пока не установлена. https://arxiv.org/abs/2107.07075v2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Точность — доля правильных ответов на изображениях, которые не использовались при обучении и отборе. CIFAR-10 содержит десять классов, 50 000 обучающих и 10 000 проверочных изображений. Справа первый столбец рисунка 1 оригинальной статьи: два графика авторов, а не наших измерений. Верхний связывает точность с моментом оценивания; нижний — с долей удалённых данных. Авторы включали полный набор в качестве базы сравнения.</a:t>
            </a:r>
          </a:p>
          <a:p xmlns:a="http://schemas.openxmlformats.org/drawingml/2006/main">
            <a:r>
              <a:t/>
            </a:r>
          </a:p>
          <a:p xmlns:a="http://schemas.openxmlformats.org/drawingml/2006/main">
            <a:r>
              <a:t>Статья: https://arxiv.org/abs/2107.07075v2. Код авторов: https://github.com/mansheej/data_diet. Измерения и код проверки: https://github.com/Mixlazer/Efficient-NN-HW-2. Снимок результатов от 11.10.2026, 01:34 (Екатеринбург).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EL2N определяется как евклидова норма разности вероятностей классов и правильного ответа в форме вектора с одной единицей. Усредняются десять отдельных норм, а не вероятности. Примеры справа выбраны по крайним оценкам среди 100 случайных кошек и 100 случайных собак; это иллюстрации по доступным предварительным сетям. Высокая оценка может указывать на сложность или ошибочную метку и сама по себе не гарантирует полезности.</a:t>
            </a:r>
          </a:p>
          <a:p xmlns:a="http://schemas.openxmlformats.org/drawingml/2006/main">
            <a:r>
              <a:t/>
            </a:r>
          </a:p>
          <a:p xmlns:a="http://schemas.openxmlformats.org/drawingml/2006/main">
            <a:r>
              <a:t>Статья: https://arxiv.org/abs/2107.07075v2. Код авторов: https://github.com/mansheej/data_diet. Измерения и код проверки: https://github.com/Mixlazer/Efficient-NN-HW-2. Снимок результатов от 11.10.2026, 01:34 (Екатеринбург).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ResNet-18 — сеть с восемнадцатью слоями и связями между блоками; использована архитектура авторов без изменений. Шаг — одно обновление весов по 128 изображениям. Эпоха — проход по выборке; 390 шагов соответствуют почти одному проходу по полному набору. После сокращения выборки число шагов остаётся прежним: 78 000 шагов дают примерно 400 проходов по половине. В паре способов начальные веса одинаковы; четыре пары используют разные начальные состояния. Проверочная выборка не используется для выбора изображений.</a:t>
            </a:r>
          </a:p>
          <a:p xmlns:a="http://schemas.openxmlformats.org/drawingml/2006/main">
            <a:r>
              <a:t/>
            </a:r>
          </a:p>
          <a:p xmlns:a="http://schemas.openxmlformats.org/drawingml/2006/main">
            <a:r>
              <a:t>Статья: https://arxiv.org/abs/2107.07075v2. Код авторов: https://github.com/mansheej/data_diet. Измерения и код проверки: https://github.com/Mixlazer/Efficient-NN-HW-2. Снимок результатов от 11.10.2026, 01:34 (Екатеринбург).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Ошибка обучения — средний отрицательный логарифм вероятности правильного класса; чем увереннее верный ответ, тем меньше ошибка. График из блокнота построен по историям реальных обучений. Повторные записи шагов после продолжения заменены последними. Первые 3900 шагов первой сети перенесены из предыдущего опыта; отсутствующий участок журнала не дорисован. Убывание ошибки не доказывает итогового выигрыша EL2N.</a:t>
            </a:r>
          </a:p>
          <a:p xmlns:a="http://schemas.openxmlformats.org/drawingml/2006/main">
            <a:r>
              <a:t/>
            </a:r>
          </a:p>
          <a:p xmlns:a="http://schemas.openxmlformats.org/drawingml/2006/main">
            <a:r>
              <a:t>Статья: https://arxiv.org/abs/2107.07075v2. Код авторов: https://github.com/mansheej/data_diet. Измерения и код проверки: https://github.com/Mixlazer/Efficient-NN-HW-2. Снимок результатов от 11.10.2026, 01:34 (Екатеринбург).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Средняя оценка вычисляется по доступным завершённым сетям. До окончания всех десяти она промежуточная и не используется для итогового отбора. Слева показана гистограмма по 50 000 изображениям. Справа ранговая корреляция Спирмена — сходство порядков изображений, заданных разными сетями. Единица означает одинаковый порядок. Диапазон вне диагонали взят из независимого расчёта. Эти проверки описывают оценивание и не подменяют итоговые точности.</a:t>
            </a:r>
          </a:p>
          <a:p xmlns:a="http://schemas.openxmlformats.org/drawingml/2006/main">
            <a:r>
              <a:t/>
            </a:r>
          </a:p>
          <a:p xmlns:a="http://schemas.openxmlformats.org/drawingml/2006/main">
            <a:r>
              <a:t>Статья: https://arxiv.org/abs/2107.07075v2. Код авторов: https://github.com/mansheej/data_diet. Измерения и код проверки: https://github.com/Mixlazer/Efficient-NN-HW-2. Снимок результатов от 11.10.2026, 01:34 (Екатеринбург).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Точки и разброс итоговых точностей должны быть рассчитаны после четырёх завершённых повторений каждого способа. Выборочное стандартное отклонение описывает разброс. Процентиль — значение, ниже которого находится заданная доля измерений; показываем 16-й и 84-й процентили, как в статье. Такой промежуток не является доверительным интервалом. Независимо проверяются шаги, индексы, среднее десяти оценок и точность из вероятностей. Без полного набора нельзя подтвердить сохранение точности относительно него.</a:t>
            </a:r>
          </a:p>
          <a:p xmlns:a="http://schemas.openxmlformats.org/drawingml/2006/main">
            <a:r>
              <a:t/>
            </a:r>
          </a:p>
          <a:p xmlns:a="http://schemas.openxmlformats.org/drawingml/2006/main">
            <a:r>
              <a:t>Статья: https://arxiv.org/abs/2107.07075v2. Код авторов: https://github.com/mansheej/data_diet. Измерения и код проверки: https://github.com/Mixlazer/Efficient-NN-HW-2. Снимок результатов от 11.10.2026, 01:34 (Екатеринбург).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380e2e666f47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082d77f40b4a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b5005bc35343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2b9a4c5eb8407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649d2399e714b4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e939d4c83c41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0F2D2A-10B8-4202-96A4-20E02FC7F1E4}"/>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B53195-B52A-4550-9BEF-A19ED9837FFD}"/>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ABB0FD-ADA0-4AD3-98EC-2B3CAD94A181}"/>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04C20B-B525-441B-BBC1-F18A8FE01E90}"/>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21D320E-A532-4045-A000-004BADA3A5A4}"/>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5406949-E44E-487E-9CDF-D5B5E41EC0CD}"/>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22E9F8-168E-48DD-A43D-459796501901}"/>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9788D88-2D27-428D-A11B-FF758460FB66}"/>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FC26B1-D7F4-429C-B72C-AB5A36B7ABEA}"/>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E9E927-D4BB-4575-8EFD-E674187319FD}"/>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c28c52440d4172" /><Relationship Type="http://schemas.openxmlformats.org/officeDocument/2006/relationships/slideLayout" Target="/ppt/slideLayouts/slideLayout1.xml" Id="R275c7e22faa144fe" /><Relationship Type="http://schemas.openxmlformats.org/officeDocument/2006/relationships/slideLayout" Target="/ppt/slideLayouts/slideLayout2.xml" Id="Rc7550b2fd3554ed3" /><Relationship Type="http://schemas.openxmlformats.org/officeDocument/2006/relationships/slideLayout" Target="/ppt/slideLayouts/slideLayout3.xml" Id="Rc9dafa8f71e940d6" /><Relationship Type="http://schemas.openxmlformats.org/officeDocument/2006/relationships/slideLayout" Target="/ppt/slideLayouts/slideLayout4.xml" Id="Re46d00feeb0c4c38" /><Relationship Type="http://schemas.openxmlformats.org/officeDocument/2006/relationships/slideLayout" Target="/ppt/slideLayouts/slideLayout5.xml" Id="R9cbc3d5d536647f5" /><Relationship Type="http://schemas.openxmlformats.org/officeDocument/2006/relationships/slideLayout" Target="/ppt/slideLayouts/slideLayout6.xml" Id="R39f0d5a975cd41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5c7e22faa144fe"/>
    <p:sldLayoutId xmlns:r="http://schemas.openxmlformats.org/officeDocument/2006/relationships" id="2147483650" r:id="Rc7550b2fd3554ed3"/>
    <p:sldLayoutId xmlns:r="http://schemas.openxmlformats.org/officeDocument/2006/relationships" id="2147483651" r:id="Rc9dafa8f71e940d6"/>
    <p:sldLayoutId xmlns:r="http://schemas.openxmlformats.org/officeDocument/2006/relationships" id="2147483652" r:id="Re46d00feeb0c4c38"/>
    <p:sldLayoutId xmlns:r="http://schemas.openxmlformats.org/officeDocument/2006/relationships" id="2147483653" r:id="R9cbc3d5d536647f5"/>
    <p:sldLayoutId xmlns:r="http://schemas.openxmlformats.org/officeDocument/2006/relationships" id="2147483654" r:id="R39f0d5a975cd41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13a2cb656384f78" /><Relationship Type="http://schemas.openxmlformats.org/officeDocument/2006/relationships/notesSlide" Target="/ppt/notesSlides/notesSlide1.xml" Id="R47bf03afecfa49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8a07bffc6cb4d34" /><Relationship Type="http://schemas.openxmlformats.org/officeDocument/2006/relationships/image" Target="/ppt/media/image.png" Id="R81a23b076d1c425d" /><Relationship Type="http://schemas.openxmlformats.org/officeDocument/2006/relationships/notesSlide" Target="/ppt/notesSlides/notesSlide2.xml" Id="R18e261d975b342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495d0dc11e7428a" /><Relationship Type="http://schemas.openxmlformats.org/officeDocument/2006/relationships/image" Target="/ppt/media/image2.png" Id="R614161b33c2a477c" /><Relationship Type="http://schemas.openxmlformats.org/officeDocument/2006/relationships/notesSlide" Target="/ppt/notesSlides/notesSlide3.xml" Id="R6fece4f7345741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14c1e07c9e64596" /><Relationship Type="http://schemas.openxmlformats.org/officeDocument/2006/relationships/notesSlide" Target="/ppt/notesSlides/notesSlide4.xml" Id="R6259361c9c964b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02d913b4544493e" /><Relationship Type="http://schemas.openxmlformats.org/officeDocument/2006/relationships/image" Target="/ppt/media/image3.png" Id="Re505879d25ef49e9" /><Relationship Type="http://schemas.openxmlformats.org/officeDocument/2006/relationships/notesSlide" Target="/ppt/notesSlides/notesSlide5.xml" Id="R97864a2351b04c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362a156f0004c92" /><Relationship Type="http://schemas.openxmlformats.org/officeDocument/2006/relationships/image" Target="/ppt/media/image4.png" Id="R76ae2c713bb34d0a" /><Relationship Type="http://schemas.openxmlformats.org/officeDocument/2006/relationships/image" Target="/ppt/media/image5.png" Id="R8ed243391a424193" /><Relationship Type="http://schemas.openxmlformats.org/officeDocument/2006/relationships/notesSlide" Target="/ppt/notesSlides/notesSlide6.xml" Id="Ra2f9a58c678e4e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f976112e9494f8e" /><Relationship Type="http://schemas.openxmlformats.org/officeDocument/2006/relationships/notesSlide" Target="/ppt/notesSlides/notesSlide7.xml" Id="Rf8767b4cfd5546b1" /></Relationships>
</file>

<file path=ppt/slides/slide1.xml><?xml version="1.0" encoding="utf-8"?>
<p:sld xmlns:p="http://schemas.openxmlformats.org/presentationml/2006/main">
  <p:cSld>
    <p:bg>
      <p:bgPr>
        <a:solidFill xmlns:a="http://schemas.openxmlformats.org/drawingml/2006/main">
          <a:srgbClr val="0000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2A2901-8E4A-434F-9641-1799E586052E}"/>
              </a:ext>
            </a:extLst>
          </p:cNvPr>
          <p:cNvSpPr>
            <a:spLocks xmlns:a="http://schemas.openxmlformats.org/drawingml/2006/main" noGrp="1"/>
          </p:cNvSpPr>
          <p:nvPr/>
        </p:nvSpPr>
        <p:spPr>
          <a:xfrm xmlns:a="http://schemas.openxmlformats.org/drawingml/2006/main">
            <a:off x="476250" y="352425"/>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Calibri"/>
                <a:ea typeface="Calibri"/>
                <a:cs typeface="Calibri"/>
              </a:defRPr>
            </a:defPPr>
          </a:lstStyle>
          <a:p xmlns:a="http://schemas.openxmlformats.org/drawingml/2006/main">
            <a:pPr>
              <a:defRPr sz="2025" b="0">
                <a:solidFill>
                  <a:srgbClr val="FFFFFF"/>
                </a:solidFill>
                <a:latin typeface="Calibri"/>
                <a:ea typeface="Calibri"/>
                <a:cs typeface="Calibri"/>
              </a:defRPr>
            </a:pPr>
            <a:r>
              <a:rPr sz="2025" b="0">
                <a:solidFill>
                  <a:srgbClr val="FFFFFF"/>
                </a:solidFill>
                <a:latin typeface="Calibri"/>
                <a:ea typeface="Calibri"/>
                <a:cs typeface="Calibri"/>
              </a:rPr>
              <a:t>Efficient NN</a:t>
            </a:r>
          </a:p>
        </p:txBody>
      </p:sp>
      <p:sp>
        <p:nvSpPr>
          <p:cNvPr id="2" name="">
            <a:extLst xmlns:a="http://schemas.openxmlformats.org/drawingml/2006/main">
              <a:ext uri="{FF2B5EF4-FFF2-40B4-BE49-F238E27FC236}">
                <a16:creationId xmlns:a16="http://schemas.microsoft.com/office/drawing/2014/main" id="{7676FF21-B3C1-4B60-8AD9-5A22C210848F}"/>
              </a:ext>
            </a:extLst>
          </p:cNvPr>
          <p:cNvSpPr>
            <a:spLocks xmlns:a="http://schemas.openxmlformats.org/drawingml/2006/main" noGrp="1"/>
          </p:cNvSpPr>
          <p:nvPr/>
        </p:nvSpPr>
        <p:spPr>
          <a:xfrm xmlns:a="http://schemas.openxmlformats.org/drawingml/2006/main">
            <a:off x="476250" y="1933575"/>
            <a:ext cx="8191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FFFFFF"/>
                </a:solidFill>
                <a:latin typeface="Calibri"/>
                <a:ea typeface="Calibri"/>
                <a:cs typeface="Calibri"/>
              </a:defRPr>
            </a:defPPr>
          </a:lstStyle>
          <a:p xmlns:a="http://schemas.openxmlformats.org/drawingml/2006/main">
            <a:pPr>
              <a:defRPr sz="3225" b="0">
                <a:solidFill>
                  <a:srgbClr val="FFFFFF"/>
                </a:solidFill>
                <a:latin typeface="Calibri"/>
                <a:ea typeface="Calibri"/>
                <a:cs typeface="Calibri"/>
              </a:defRPr>
            </a:pPr>
            <a:r>
              <a:rPr sz="3225" b="0">
                <a:solidFill>
                  <a:srgbClr val="FFFFFF"/>
                </a:solidFill>
                <a:latin typeface="Calibri"/>
                <a:ea typeface="Calibri"/>
                <a:cs typeface="Calibri"/>
              </a:rPr>
              <a:t>Ранний отбор</a:t>
            </a:r>
          </a:p>
          <a:p xmlns:a="http://schemas.openxmlformats.org/drawingml/2006/main">
            <a:pPr>
              <a:defRPr sz="3225" b="0">
                <a:solidFill>
                  <a:srgbClr val="FFFFFF"/>
                </a:solidFill>
                <a:latin typeface="Calibri"/>
                <a:ea typeface="Calibri"/>
                <a:cs typeface="Calibri"/>
              </a:defRPr>
            </a:pPr>
            <a:r>
              <a:rPr sz="3225" b="0">
                <a:solidFill>
                  <a:srgbClr val="FFFFFF"/>
                </a:solidFill>
                <a:latin typeface="Calibri"/>
                <a:ea typeface="Calibri"/>
                <a:cs typeface="Calibri"/>
              </a:rPr>
              <a:t>обучающих изображений</a:t>
            </a:r>
          </a:p>
        </p:txBody>
      </p:sp>
      <p:sp>
        <p:nvSpPr>
          <p:cNvPr id="3" name="">
            <a:extLst xmlns:a="http://schemas.openxmlformats.org/drawingml/2006/main">
              <a:ext uri="{FF2B5EF4-FFF2-40B4-BE49-F238E27FC236}">
                <a16:creationId xmlns:a16="http://schemas.microsoft.com/office/drawing/2014/main" id="{12637C51-421B-4BDC-9085-90C14D8D8EDC}"/>
              </a:ext>
            </a:extLst>
          </p:cNvPr>
          <p:cNvSpPr>
            <a:spLocks xmlns:a="http://schemas.openxmlformats.org/drawingml/2006/main" noGrp="1"/>
          </p:cNvSpPr>
          <p:nvPr/>
        </p:nvSpPr>
        <p:spPr>
          <a:xfrm xmlns:a="http://schemas.openxmlformats.org/drawingml/2006/main">
            <a:off x="495300" y="3476625"/>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FFFFFF"/>
                </a:solidFill>
                <a:latin typeface="Arial"/>
                <a:ea typeface="Arial"/>
                <a:cs typeface="Arial"/>
              </a:defRPr>
            </a:def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По статье Deep Learning on a Data Diet</a:t>
            </a:r>
          </a:p>
        </p:txBody>
      </p:sp>
      <p:sp>
        <p:nvSpPr>
          <p:cNvPr id="4" name="">
            <a:extLst xmlns:a="http://schemas.openxmlformats.org/drawingml/2006/main">
              <a:ext uri="{FF2B5EF4-FFF2-40B4-BE49-F238E27FC236}">
                <a16:creationId xmlns:a16="http://schemas.microsoft.com/office/drawing/2014/main" id="{63FF75A5-388D-47F7-B2E2-660EE1C92A9F}"/>
              </a:ext>
            </a:extLst>
          </p:cNvPr>
          <p:cNvSpPr>
            <a:spLocks xmlns:a="http://schemas.openxmlformats.org/drawingml/2006/main" noGrp="1"/>
          </p:cNvSpPr>
          <p:nvPr/>
        </p:nvSpPr>
        <p:spPr>
          <a:xfrm xmlns:a="http://schemas.openxmlformats.org/drawingml/2006/main">
            <a:off x="495300" y="4029075"/>
            <a:ext cx="666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stStyle>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Михаил Лазарчик</a:t>
            </a:r>
          </a:p>
        </p:txBody>
      </p:sp>
      <p:sp>
        <p:nvSpPr>
          <p:cNvPr id="5" name="">
            <a:extLst xmlns:a="http://schemas.openxmlformats.org/drawingml/2006/main">
              <a:ext uri="{FF2B5EF4-FFF2-40B4-BE49-F238E27FC236}">
                <a16:creationId xmlns:a16="http://schemas.microsoft.com/office/drawing/2014/main" id="{A0C23E91-7B58-410C-BB9E-355875923263}"/>
              </a:ext>
            </a:extLst>
          </p:cNvPr>
          <p:cNvSpPr>
            <a:spLocks xmlns:a="http://schemas.openxmlformats.org/drawingml/2006/main" noGrp="1"/>
          </p:cNvSpPr>
          <p:nvPr/>
        </p:nvSpPr>
        <p:spPr>
          <a:xfrm xmlns:a="http://schemas.openxmlformats.org/drawingml/2006/main">
            <a:off x="495300" y="4533900"/>
            <a:ext cx="809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FFFFFF"/>
                </a:solidFill>
                <a:latin typeface="Arial"/>
                <a:ea typeface="Arial"/>
                <a:cs typeface="Arial"/>
              </a:defRPr>
            </a:defPPr>
          </a:lstStyle>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Домашнее задание № 2  •  Промежуточные результаты</a:t>
            </a:r>
          </a:p>
        </p:txBody>
      </p:sp>
    </p:spTree>
    <p:extLst>
      <p:ext uri="{BB962C8B-B14F-4D97-AF65-F5344CB8AC3E}">
        <p14:creationId xmlns:p14="http://schemas.microsoft.com/office/powerpoint/2010/main" val="446368218"/>
      </p:ext>
    </p:extLst>
  </p:cSld>
</p:sld>
</file>

<file path=ppt/slides/slide2.xml><?xml version="1.0" encoding="utf-8"?>
<p:sld xmlns:p="http://schemas.openxmlformats.org/presentationml/2006/main">
  <p:cSld>
    <p:bg>
      <p:bgPr>
        <a:solidFill xmlns:a="http://schemas.openxmlformats.org/drawingml/2006/main">
          <a:srgbClr val="FA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642C4F1-FE57-435B-A971-8983292E40AB}"/>
              </a:ext>
            </a:extLst>
          </p:cNvPr>
          <p:cNvSpPr>
            <a:spLocks xmlns:a="http://schemas.openxmlformats.org/drawingml/2006/main" noGrp="1"/>
          </p:cNvSpPr>
          <p:nvPr/>
        </p:nvSpPr>
        <p:spPr>
          <a:xfrm xmlns:a="http://schemas.openxmlformats.org/drawingml/2006/main">
            <a:off x="476250" y="285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010"/>
                </a:solidFill>
                <a:latin typeface="Calibri"/>
                <a:ea typeface="Calibri"/>
                <a:cs typeface="Calibri"/>
              </a:defRPr>
            </a:defPPr>
          </a:lstStyle>
          <a:p xmlns:a="http://schemas.openxmlformats.org/drawingml/2006/main">
            <a:pPr>
              <a:defRPr sz="1650" b="0">
                <a:solidFill>
                  <a:srgbClr val="101010"/>
                </a:solidFill>
                <a:latin typeface="Calibri"/>
                <a:ea typeface="Calibri"/>
                <a:cs typeface="Calibri"/>
              </a:defRPr>
            </a:pPr>
            <a:r>
              <a:rPr sz="1650" b="0">
                <a:solidFill>
                  <a:srgbClr val="101010"/>
                </a:solidFill>
                <a:latin typeface="Calibri"/>
                <a:ea typeface="Calibri"/>
                <a:cs typeface="Calibri"/>
              </a:rPr>
              <a:t>Efficient NN</a:t>
            </a:r>
          </a:p>
        </p:txBody>
      </p:sp>
      <p:sp>
        <p:nvSpPr>
          <p:cNvPr id="2" name="">
            <a:extLst xmlns:a="http://schemas.openxmlformats.org/drawingml/2006/main">
              <a:ext uri="{FF2B5EF4-FFF2-40B4-BE49-F238E27FC236}">
                <a16:creationId xmlns:a16="http://schemas.microsoft.com/office/drawing/2014/main" id="{12E3C4DB-8CFD-4ADE-AE4E-76641CA640CF}"/>
              </a:ext>
            </a:extLst>
          </p:cNvPr>
          <p:cNvSpPr>
            <a:spLocks xmlns:a="http://schemas.openxmlformats.org/drawingml/2006/main" noGrp="1"/>
          </p:cNvSpPr>
          <p:nvPr/>
        </p:nvSpPr>
        <p:spPr>
          <a:xfrm xmlns:a="http://schemas.openxmlformats.org/drawingml/2006/main">
            <a:off x="476250" y="838200"/>
            <a:ext cx="8191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88" b="1">
                <a:solidFill>
                  <a:srgbClr val="101010"/>
                </a:solidFill>
                <a:latin typeface="Calibri"/>
                <a:ea typeface="Calibri"/>
                <a:cs typeface="Calibri"/>
              </a:defRPr>
            </a:defPPr>
          </a:lstStyle>
          <a:p xmlns:a="http://schemas.openxmlformats.org/drawingml/2006/main">
            <a:pPr>
              <a:defRPr sz="2588" b="1">
                <a:solidFill>
                  <a:srgbClr val="101010"/>
                </a:solidFill>
                <a:latin typeface="Calibri"/>
                <a:ea typeface="Calibri"/>
                <a:cs typeface="Calibri"/>
              </a:defRPr>
            </a:pPr>
            <a:r>
              <a:rPr sz="2588" b="1">
                <a:solidFill>
                  <a:srgbClr val="101010"/>
                </a:solidFill>
                <a:latin typeface="Calibri"/>
                <a:ea typeface="Calibri"/>
                <a:cs typeface="Calibri"/>
              </a:rPr>
              <a:t>Можно ли учиться на половине данных?</a:t>
            </a:r>
          </a:p>
        </p:txBody>
      </p:sp>
      <p:sp>
        <p:nvSpPr>
          <p:cNvPr id="3" name="">
            <a:extLst xmlns:a="http://schemas.openxmlformats.org/drawingml/2006/main">
              <a:ext uri="{FF2B5EF4-FFF2-40B4-BE49-F238E27FC236}">
                <a16:creationId xmlns:a16="http://schemas.microsoft.com/office/drawing/2014/main" id="{16F2CCA7-C6F5-4254-B43F-43C8B7DEFB89}"/>
              </a:ext>
            </a:extLst>
          </p:cNvPr>
          <p:cNvSpPr>
            <a:spLocks xmlns:a="http://schemas.openxmlformats.org/drawingml/2006/main" noGrp="1"/>
          </p:cNvSpPr>
          <p:nvPr/>
        </p:nvSpPr>
        <p:spPr>
          <a:xfrm xmlns:a="http://schemas.openxmlformats.org/drawingml/2006/main">
            <a:off x="8239125" y="47910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0000FF"/>
                </a:solidFill>
                <a:latin typeface="Arial"/>
                <a:ea typeface="Arial"/>
                <a:cs typeface="Arial"/>
              </a:defRPr>
            </a:defPPr>
          </a:lstStyle>
          <a:p xmlns:a="http://schemas.openxmlformats.org/drawingml/2006/main">
            <a:pPr>
              <a:defRPr sz="975" b="0">
                <a:solidFill>
                  <a:srgbClr val="0000FF"/>
                </a:solidFill>
                <a:latin typeface="Arial"/>
                <a:ea typeface="Arial"/>
                <a:cs typeface="Arial"/>
              </a:defRPr>
            </a:pPr>
            <a:r>
              <a:rPr sz="975" b="0">
                <a:solidFill>
                  <a:srgbClr val="0000FF"/>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C70C086A-75E1-4165-A86F-899B96AEC6BF}"/>
              </a:ext>
            </a:extLst>
          </p:cNvPr>
          <p:cNvSpPr>
            <a:spLocks xmlns:a="http://schemas.openxmlformats.org/drawingml/2006/main" noGrp="1"/>
          </p:cNvSpPr>
          <p:nvPr/>
        </p:nvSpPr>
        <p:spPr>
          <a:xfrm xmlns:a="http://schemas.openxmlformats.org/drawingml/2006/main">
            <a:off x="476250" y="1819275"/>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161E665-FA9F-4512-90C2-CB4C50060765}"/>
              </a:ext>
            </a:extLst>
          </p:cNvPr>
          <p:cNvSpPr>
            <a:spLocks xmlns:a="http://schemas.openxmlformats.org/drawingml/2006/main" noGrp="1"/>
          </p:cNvSpPr>
          <p:nvPr/>
        </p:nvSpPr>
        <p:spPr>
          <a:xfrm xmlns:a="http://schemas.openxmlformats.org/drawingml/2006/main">
            <a:off x="476250" y="2143125"/>
            <a:ext cx="4286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Обучающая выборка — изображения,</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по которым сеть учится. Проверочная —</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отдельные изображения для оценки</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качества. Точность — доля верных ответов.</a:t>
            </a:r>
          </a:p>
        </p:txBody>
      </p:sp>
      <p:sp>
        <p:nvSpPr>
          <p:cNvPr id="6" name="">
            <a:extLst xmlns:a="http://schemas.openxmlformats.org/drawingml/2006/main">
              <a:ext uri="{FF2B5EF4-FFF2-40B4-BE49-F238E27FC236}">
                <a16:creationId xmlns:a16="http://schemas.microsoft.com/office/drawing/2014/main" id="{CD1E4427-C6B3-4F4C-AD6A-D6A2CCA3CAAD}"/>
              </a:ext>
            </a:extLst>
          </p:cNvPr>
          <p:cNvSpPr>
            <a:spLocks xmlns:a="http://schemas.openxmlformats.org/drawingml/2006/main" noGrp="1"/>
          </p:cNvSpPr>
          <p:nvPr/>
        </p:nvSpPr>
        <p:spPr>
          <a:xfrm xmlns:a="http://schemas.openxmlformats.org/drawingml/2006/main">
            <a:off x="476250" y="331470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156EA9B-CB8C-4C78-ACF5-1D58D2CFFC22}"/>
              </a:ext>
            </a:extLst>
          </p:cNvPr>
          <p:cNvSpPr>
            <a:spLocks xmlns:a="http://schemas.openxmlformats.org/drawingml/2006/main" noGrp="1"/>
          </p:cNvSpPr>
          <p:nvPr/>
        </p:nvSpPr>
        <p:spPr>
          <a:xfrm xmlns:a="http://schemas.openxmlformats.org/drawingml/2006/main">
            <a:off x="476250" y="3638550"/>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CIFAR-10 — набор изображений десяти</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классов. На нём авторы удаляют около</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половины данных без заметного</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снижения итоговой точности.</a:t>
            </a:r>
          </a:p>
        </p:txBody>
      </p:sp>
      <p:pic>
        <p:nvPicPr>
          <p:cNvPr id="8" name="">
            <a:extLst xmlns:a="http://schemas.openxmlformats.org/drawingml/2006/main">
              <a:ext uri="{FF2B5EF4-FFF2-40B4-BE49-F238E27FC236}">
                <a16:creationId xmlns:a16="http://schemas.microsoft.com/office/drawing/2014/main" id="{F7EC86A0-E0E5-4D88-BB34-DD886E8FC1C7}"/>
              </a:ext>
            </a:extLst>
          </p:cNvPr>
          <p:cNvPicPr>
            <a:picLocks xmlns:a="http://schemas.openxmlformats.org/drawingml/2006/main" noChangeAspect="1"/>
          </p:cNvPicPr>
          <p:nvPr/>
        </p:nvPicPr>
        <p:blipFill>
          <a:blip xmlns:r="http://schemas.openxmlformats.org/officeDocument/2006/relationships" xmlns:a="http://schemas.openxmlformats.org/drawingml/2006/main" r:embed="R81a23b076d1c425d"/>
          <a:stretch xmlns:a="http://schemas.openxmlformats.org/drawingml/2006/main"/>
        </p:blipFill>
        <p:spPr>
          <a:xfrm xmlns:a="http://schemas.openxmlformats.org/drawingml/2006/main">
            <a:off x="5691858" y="1428750"/>
            <a:ext cx="2313234" cy="3219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945BF42-01DD-4B18-A8C3-2A0EC2F41B87}"/>
              </a:ext>
            </a:extLst>
          </p:cNvPr>
          <p:cNvSpPr>
            <a:spLocks xmlns:a="http://schemas.openxmlformats.org/drawingml/2006/main" noGrp="1"/>
          </p:cNvSpPr>
          <p:nvPr/>
        </p:nvSpPr>
        <p:spPr>
          <a:xfrm xmlns:a="http://schemas.openxmlformats.org/drawingml/2006/main">
            <a:off x="4991100" y="4676775"/>
            <a:ext cx="3381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55555"/>
                </a:solidFill>
                <a:latin typeface="Arial"/>
                <a:ea typeface="Arial"/>
                <a:cs typeface="Arial"/>
              </a:defRPr>
            </a:defPPr>
          </a:lstStyle>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Рисунок 1 статьи: измерения авторов</a:t>
            </a:r>
          </a:p>
        </p:txBody>
      </p:sp>
    </p:spTree>
    <p:extLst>
      <p:ext uri="{BB962C8B-B14F-4D97-AF65-F5344CB8AC3E}">
        <p14:creationId xmlns:p14="http://schemas.microsoft.com/office/powerpoint/2010/main" val="1988338642"/>
      </p:ext>
    </p:extLst>
  </p:cSld>
</p:sld>
</file>

<file path=ppt/slides/slide3.xml><?xml version="1.0" encoding="utf-8"?>
<p:sld xmlns:p="http://schemas.openxmlformats.org/presentationml/2006/main">
  <p:cSld>
    <p:bg>
      <p:bgPr>
        <a:solidFill xmlns:a="http://schemas.openxmlformats.org/drawingml/2006/main">
          <a:srgbClr val="FA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6C993F0-3771-41A8-9765-D2179D60E110}"/>
              </a:ext>
            </a:extLst>
          </p:cNvPr>
          <p:cNvSpPr>
            <a:spLocks xmlns:a="http://schemas.openxmlformats.org/drawingml/2006/main" noGrp="1"/>
          </p:cNvSpPr>
          <p:nvPr/>
        </p:nvSpPr>
        <p:spPr>
          <a:xfrm xmlns:a="http://schemas.openxmlformats.org/drawingml/2006/main">
            <a:off x="476250" y="285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010"/>
                </a:solidFill>
                <a:latin typeface="Calibri"/>
                <a:ea typeface="Calibri"/>
                <a:cs typeface="Calibri"/>
              </a:defRPr>
            </a:defPPr>
          </a:lstStyle>
          <a:p xmlns:a="http://schemas.openxmlformats.org/drawingml/2006/main">
            <a:pPr>
              <a:defRPr sz="1650" b="0">
                <a:solidFill>
                  <a:srgbClr val="101010"/>
                </a:solidFill>
                <a:latin typeface="Calibri"/>
                <a:ea typeface="Calibri"/>
                <a:cs typeface="Calibri"/>
              </a:defRPr>
            </a:pPr>
            <a:r>
              <a:rPr sz="1650" b="0">
                <a:solidFill>
                  <a:srgbClr val="101010"/>
                </a:solidFill>
                <a:latin typeface="Calibri"/>
                <a:ea typeface="Calibri"/>
                <a:cs typeface="Calibri"/>
              </a:rPr>
              <a:t>Efficient NN</a:t>
            </a:r>
          </a:p>
        </p:txBody>
      </p:sp>
      <p:sp>
        <p:nvSpPr>
          <p:cNvPr id="2" name="">
            <a:extLst xmlns:a="http://schemas.openxmlformats.org/drawingml/2006/main">
              <a:ext uri="{FF2B5EF4-FFF2-40B4-BE49-F238E27FC236}">
                <a16:creationId xmlns:a16="http://schemas.microsoft.com/office/drawing/2014/main" id="{A38DD7CC-5626-451A-A93E-194476B3A360}"/>
              </a:ext>
            </a:extLst>
          </p:cNvPr>
          <p:cNvSpPr>
            <a:spLocks xmlns:a="http://schemas.openxmlformats.org/drawingml/2006/main" noGrp="1"/>
          </p:cNvSpPr>
          <p:nvPr/>
        </p:nvSpPr>
        <p:spPr>
          <a:xfrm xmlns:a="http://schemas.openxmlformats.org/drawingml/2006/main">
            <a:off x="476250" y="838200"/>
            <a:ext cx="8191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88" b="1">
                <a:solidFill>
                  <a:srgbClr val="101010"/>
                </a:solidFill>
                <a:latin typeface="Calibri"/>
                <a:ea typeface="Calibri"/>
                <a:cs typeface="Calibri"/>
              </a:defRPr>
            </a:defPPr>
          </a:lstStyle>
          <a:p xmlns:a="http://schemas.openxmlformats.org/drawingml/2006/main">
            <a:pPr>
              <a:defRPr sz="2588" b="1">
                <a:solidFill>
                  <a:srgbClr val="101010"/>
                </a:solidFill>
                <a:latin typeface="Calibri"/>
                <a:ea typeface="Calibri"/>
                <a:cs typeface="Calibri"/>
              </a:defRPr>
            </a:pPr>
            <a:r>
              <a:rPr sz="2588" b="1">
                <a:solidFill>
                  <a:srgbClr val="101010"/>
                </a:solidFill>
                <a:latin typeface="Calibri"/>
                <a:ea typeface="Calibri"/>
                <a:cs typeface="Calibri"/>
              </a:rPr>
              <a:t>Как оценить полезность изображения</a:t>
            </a:r>
          </a:p>
        </p:txBody>
      </p:sp>
      <p:sp>
        <p:nvSpPr>
          <p:cNvPr id="3" name="">
            <a:extLst xmlns:a="http://schemas.openxmlformats.org/drawingml/2006/main">
              <a:ext uri="{FF2B5EF4-FFF2-40B4-BE49-F238E27FC236}">
                <a16:creationId xmlns:a16="http://schemas.microsoft.com/office/drawing/2014/main" id="{090DA607-6997-4BDF-B5D0-D178A3D932F1}"/>
              </a:ext>
            </a:extLst>
          </p:cNvPr>
          <p:cNvSpPr>
            <a:spLocks xmlns:a="http://schemas.openxmlformats.org/drawingml/2006/main" noGrp="1"/>
          </p:cNvSpPr>
          <p:nvPr/>
        </p:nvSpPr>
        <p:spPr>
          <a:xfrm xmlns:a="http://schemas.openxmlformats.org/drawingml/2006/main">
            <a:off x="8239125" y="47910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0000FF"/>
                </a:solidFill>
                <a:latin typeface="Arial"/>
                <a:ea typeface="Arial"/>
                <a:cs typeface="Arial"/>
              </a:defRPr>
            </a:defPPr>
          </a:lstStyle>
          <a:p xmlns:a="http://schemas.openxmlformats.org/drawingml/2006/main">
            <a:pPr>
              <a:defRPr sz="975" b="0">
                <a:solidFill>
                  <a:srgbClr val="0000FF"/>
                </a:solidFill>
                <a:latin typeface="Arial"/>
                <a:ea typeface="Arial"/>
                <a:cs typeface="Arial"/>
              </a:defRPr>
            </a:pPr>
            <a:r>
              <a:rPr sz="975" b="0">
                <a:solidFill>
                  <a:srgbClr val="0000FF"/>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6BFC9D43-18E4-401A-8FC4-4C2E97442E7D}"/>
              </a:ext>
            </a:extLst>
          </p:cNvPr>
          <p:cNvSpPr>
            <a:spLocks xmlns:a="http://schemas.openxmlformats.org/drawingml/2006/main" noGrp="1"/>
          </p:cNvSpPr>
          <p:nvPr/>
        </p:nvSpPr>
        <p:spPr>
          <a:xfrm xmlns:a="http://schemas.openxmlformats.org/drawingml/2006/main">
            <a:off x="476250" y="1800225"/>
            <a:ext cx="3105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186E232-4117-45BD-BDE9-3DDDE7BDD144}"/>
              </a:ext>
            </a:extLst>
          </p:cNvPr>
          <p:cNvSpPr>
            <a:spLocks xmlns:a="http://schemas.openxmlformats.org/drawingml/2006/main" noGrp="1"/>
          </p:cNvSpPr>
          <p:nvPr/>
        </p:nvSpPr>
        <p:spPr>
          <a:xfrm xmlns:a="http://schemas.openxmlformats.org/drawingml/2006/main">
            <a:off x="476250" y="2124075"/>
            <a:ext cx="31051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Оценка ошибки вероятностей (EL2N) —</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расстояние от вероятностей сети</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до правильного ответа. В нём единица</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стоит у нужного класса, а остальные</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элементы равны нулю.</a:t>
            </a:r>
          </a:p>
        </p:txBody>
      </p:sp>
      <p:sp>
        <p:nvSpPr>
          <p:cNvPr id="6" name="">
            <a:extLst xmlns:a="http://schemas.openxmlformats.org/drawingml/2006/main">
              <a:ext uri="{FF2B5EF4-FFF2-40B4-BE49-F238E27FC236}">
                <a16:creationId xmlns:a16="http://schemas.microsoft.com/office/drawing/2014/main" id="{2E8C9D18-B8BD-44A1-ADFA-F6C6B46C4B91}"/>
              </a:ext>
            </a:extLst>
          </p:cNvPr>
          <p:cNvSpPr>
            <a:spLocks xmlns:a="http://schemas.openxmlformats.org/drawingml/2006/main" noGrp="1"/>
          </p:cNvSpPr>
          <p:nvPr/>
        </p:nvSpPr>
        <p:spPr>
          <a:xfrm xmlns:a="http://schemas.openxmlformats.org/drawingml/2006/main">
            <a:off x="476250" y="3276600"/>
            <a:ext cx="3105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70D0444-27E9-4636-8348-426DB33D7E32}"/>
              </a:ext>
            </a:extLst>
          </p:cNvPr>
          <p:cNvSpPr>
            <a:spLocks xmlns:a="http://schemas.openxmlformats.org/drawingml/2006/main" noGrp="1"/>
          </p:cNvSpPr>
          <p:nvPr/>
        </p:nvSpPr>
        <p:spPr>
          <a:xfrm xmlns:a="http://schemas.openxmlformats.org/drawingml/2006/main">
            <a:off x="476250" y="3600450"/>
            <a:ext cx="31051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Сначала обучаем десять сетей</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и усредняем их оценки. Затем</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оставляем 25 000 изображений</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 наибольшим средним значением.</a:t>
            </a:r>
          </a:p>
        </p:txBody>
      </p:sp>
      <p:pic>
        <p:nvPicPr>
          <p:cNvPr id="8" name="">
            <a:extLst xmlns:a="http://schemas.openxmlformats.org/drawingml/2006/main">
              <a:ext uri="{FF2B5EF4-FFF2-40B4-BE49-F238E27FC236}">
                <a16:creationId xmlns:a16="http://schemas.microsoft.com/office/drawing/2014/main" id="{E2B2F993-6A63-413D-9EEB-D839D2AFFFF9}"/>
              </a:ext>
            </a:extLst>
          </p:cNvPr>
          <p:cNvPicPr>
            <a:picLocks xmlns:a="http://schemas.openxmlformats.org/drawingml/2006/main" noChangeAspect="1"/>
          </p:cNvPicPr>
          <p:nvPr/>
        </p:nvPicPr>
        <p:blipFill>
          <a:blip xmlns:r="http://schemas.openxmlformats.org/officeDocument/2006/relationships" xmlns:a="http://schemas.openxmlformats.org/drawingml/2006/main" r:embed="R614161b33c2a477c"/>
          <a:stretch xmlns:a="http://schemas.openxmlformats.org/drawingml/2006/main"/>
        </p:blipFill>
        <p:spPr>
          <a:xfrm xmlns:a="http://schemas.openxmlformats.org/drawingml/2006/main">
            <a:off x="4251820" y="1762125"/>
            <a:ext cx="4088411" cy="2762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D932927-EA1B-49AD-AF2F-51000D69CFBA}"/>
              </a:ext>
            </a:extLst>
          </p:cNvPr>
          <p:cNvSpPr>
            <a:spLocks xmlns:a="http://schemas.openxmlformats.org/drawingml/2006/main" noGrp="1"/>
          </p:cNvSpPr>
          <p:nvPr/>
        </p:nvSpPr>
        <p:spPr>
          <a:xfrm xmlns:a="http://schemas.openxmlformats.org/drawingml/2006/main">
            <a:off x="3924300" y="4543425"/>
            <a:ext cx="4810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55555"/>
                </a:solidFill>
                <a:latin typeface="Arial"/>
                <a:ea typeface="Arial"/>
                <a:cs typeface="Arial"/>
              </a:defRPr>
            </a:defPPr>
          </a:lstStyle>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Числа над изображениями — среднее по 8 сетям.</a:t>
            </a:r>
          </a:p>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Иллюстрация оценки; итоговый отбор ещё не проверен.</a:t>
            </a:r>
          </a:p>
        </p:txBody>
      </p:sp>
    </p:spTree>
    <p:extLst>
      <p:ext uri="{BB962C8B-B14F-4D97-AF65-F5344CB8AC3E}">
        <p14:creationId xmlns:p14="http://schemas.microsoft.com/office/powerpoint/2010/main" val="859206589"/>
      </p:ext>
    </p:extLst>
  </p:cSld>
</p:sld>
</file>

<file path=ppt/slides/slide4.xml><?xml version="1.0" encoding="utf-8"?>
<p:sld xmlns:p="http://schemas.openxmlformats.org/presentationml/2006/main">
  <p:cSld>
    <p:bg>
      <p:bgPr>
        <a:solidFill xmlns:a="http://schemas.openxmlformats.org/drawingml/2006/main">
          <a:srgbClr val="FA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0055C98-A41A-4107-8811-E1D12B7F907F}"/>
              </a:ext>
            </a:extLst>
          </p:cNvPr>
          <p:cNvSpPr>
            <a:spLocks xmlns:a="http://schemas.openxmlformats.org/drawingml/2006/main" noGrp="1"/>
          </p:cNvSpPr>
          <p:nvPr/>
        </p:nvSpPr>
        <p:spPr>
          <a:xfrm xmlns:a="http://schemas.openxmlformats.org/drawingml/2006/main">
            <a:off x="476250" y="285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010"/>
                </a:solidFill>
                <a:latin typeface="Calibri"/>
                <a:ea typeface="Calibri"/>
                <a:cs typeface="Calibri"/>
              </a:defRPr>
            </a:defPPr>
          </a:lstStyle>
          <a:p xmlns:a="http://schemas.openxmlformats.org/drawingml/2006/main">
            <a:pPr>
              <a:defRPr sz="1650" b="0">
                <a:solidFill>
                  <a:srgbClr val="101010"/>
                </a:solidFill>
                <a:latin typeface="Calibri"/>
                <a:ea typeface="Calibri"/>
                <a:cs typeface="Calibri"/>
              </a:defRPr>
            </a:pPr>
            <a:r>
              <a:rPr sz="1650" b="0">
                <a:solidFill>
                  <a:srgbClr val="101010"/>
                </a:solidFill>
                <a:latin typeface="Calibri"/>
                <a:ea typeface="Calibri"/>
                <a:cs typeface="Calibri"/>
              </a:rPr>
              <a:t>Efficient NN</a:t>
            </a:r>
          </a:p>
        </p:txBody>
      </p:sp>
      <p:sp>
        <p:nvSpPr>
          <p:cNvPr id="2" name="">
            <a:extLst xmlns:a="http://schemas.openxmlformats.org/drawingml/2006/main">
              <a:ext uri="{FF2B5EF4-FFF2-40B4-BE49-F238E27FC236}">
                <a16:creationId xmlns:a16="http://schemas.microsoft.com/office/drawing/2014/main" id="{9CA43544-C024-4DC0-91F7-6AC56682E2F0}"/>
              </a:ext>
            </a:extLst>
          </p:cNvPr>
          <p:cNvSpPr>
            <a:spLocks xmlns:a="http://schemas.openxmlformats.org/drawingml/2006/main" noGrp="1"/>
          </p:cNvSpPr>
          <p:nvPr/>
        </p:nvSpPr>
        <p:spPr>
          <a:xfrm xmlns:a="http://schemas.openxmlformats.org/drawingml/2006/main">
            <a:off x="476250" y="838200"/>
            <a:ext cx="8191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88" b="1">
                <a:solidFill>
                  <a:srgbClr val="101010"/>
                </a:solidFill>
                <a:latin typeface="Calibri"/>
                <a:ea typeface="Calibri"/>
                <a:cs typeface="Calibri"/>
              </a:defRPr>
            </a:defPPr>
          </a:lstStyle>
          <a:p xmlns:a="http://schemas.openxmlformats.org/drawingml/2006/main">
            <a:pPr>
              <a:defRPr sz="2588" b="1">
                <a:solidFill>
                  <a:srgbClr val="101010"/>
                </a:solidFill>
                <a:latin typeface="Calibri"/>
                <a:ea typeface="Calibri"/>
                <a:cs typeface="Calibri"/>
              </a:defRPr>
            </a:pPr>
            <a:r>
              <a:rPr sz="2588" b="1">
                <a:solidFill>
                  <a:srgbClr val="101010"/>
                </a:solidFill>
                <a:latin typeface="Calibri"/>
                <a:ea typeface="Calibri"/>
                <a:cs typeface="Calibri"/>
              </a:rPr>
              <a:t>Условия нашего опыта</a:t>
            </a:r>
          </a:p>
        </p:txBody>
      </p:sp>
      <p:sp>
        <p:nvSpPr>
          <p:cNvPr id="3" name="">
            <a:extLst xmlns:a="http://schemas.openxmlformats.org/drawingml/2006/main">
              <a:ext uri="{FF2B5EF4-FFF2-40B4-BE49-F238E27FC236}">
                <a16:creationId xmlns:a16="http://schemas.microsoft.com/office/drawing/2014/main" id="{20D66439-E96A-47BF-84D5-0402CAB0F35F}"/>
              </a:ext>
            </a:extLst>
          </p:cNvPr>
          <p:cNvSpPr>
            <a:spLocks xmlns:a="http://schemas.openxmlformats.org/drawingml/2006/main" noGrp="1"/>
          </p:cNvSpPr>
          <p:nvPr/>
        </p:nvSpPr>
        <p:spPr>
          <a:xfrm xmlns:a="http://schemas.openxmlformats.org/drawingml/2006/main">
            <a:off x="8239125" y="47910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0000FF"/>
                </a:solidFill>
                <a:latin typeface="Arial"/>
                <a:ea typeface="Arial"/>
                <a:cs typeface="Arial"/>
              </a:defRPr>
            </a:defPPr>
          </a:lstStyle>
          <a:p xmlns:a="http://schemas.openxmlformats.org/drawingml/2006/main">
            <a:pPr>
              <a:defRPr sz="975" b="0">
                <a:solidFill>
                  <a:srgbClr val="0000FF"/>
                </a:solidFill>
                <a:latin typeface="Arial"/>
                <a:ea typeface="Arial"/>
                <a:cs typeface="Arial"/>
              </a:defRPr>
            </a:pPr>
            <a:r>
              <a:rPr sz="975" b="0">
                <a:solidFill>
                  <a:srgbClr val="0000FF"/>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162138F0-1B27-4C3D-AA07-B6B722FFF79A}"/>
              </a:ext>
            </a:extLst>
          </p:cNvPr>
          <p:cNvSpPr>
            <a:spLocks xmlns:a="http://schemas.openxmlformats.org/drawingml/2006/main" noGrp="1"/>
          </p:cNvSpPr>
          <p:nvPr/>
        </p:nvSpPr>
        <p:spPr>
          <a:xfrm xmlns:a="http://schemas.openxmlformats.org/drawingml/2006/main">
            <a:off x="476250" y="1838325"/>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6976C3A-15DD-478F-920F-0706BF04F68C}"/>
              </a:ext>
            </a:extLst>
          </p:cNvPr>
          <p:cNvSpPr>
            <a:spLocks xmlns:a="http://schemas.openxmlformats.org/drawingml/2006/main" noGrp="1"/>
          </p:cNvSpPr>
          <p:nvPr/>
        </p:nvSpPr>
        <p:spPr>
          <a:xfrm xmlns:a="http://schemas.openxmlformats.org/drawingml/2006/main">
            <a:off x="476250" y="2162175"/>
            <a:ext cx="3905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CIFAR-10: десять классов изображений.</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ResNet-18 — сеть с восемнадцатью слоями.</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Архитектура взята из кода авторов.</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Вычисления: Google Colab, Tesla T4.</a:t>
            </a:r>
          </a:p>
        </p:txBody>
      </p:sp>
      <p:sp>
        <p:nvSpPr>
          <p:cNvPr id="6" name="">
            <a:extLst xmlns:a="http://schemas.openxmlformats.org/drawingml/2006/main">
              <a:ext uri="{FF2B5EF4-FFF2-40B4-BE49-F238E27FC236}">
                <a16:creationId xmlns:a16="http://schemas.microsoft.com/office/drawing/2014/main" id="{5C57064F-3092-418E-A7F8-0E19381BD835}"/>
              </a:ext>
            </a:extLst>
          </p:cNvPr>
          <p:cNvSpPr>
            <a:spLocks xmlns:a="http://schemas.openxmlformats.org/drawingml/2006/main" noGrp="1"/>
          </p:cNvSpPr>
          <p:nvPr/>
        </p:nvSpPr>
        <p:spPr>
          <a:xfrm xmlns:a="http://schemas.openxmlformats.org/drawingml/2006/main">
            <a:off x="4857750" y="18383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D08083D0-AAA4-4DA4-9636-AC3CA2367D76}"/>
              </a:ext>
            </a:extLst>
          </p:cNvPr>
          <p:cNvSpPr>
            <a:spLocks xmlns:a="http://schemas.openxmlformats.org/drawingml/2006/main" noGrp="1"/>
          </p:cNvSpPr>
          <p:nvPr/>
        </p:nvSpPr>
        <p:spPr>
          <a:xfrm xmlns:a="http://schemas.openxmlformats.org/drawingml/2006/main">
            <a:off x="4857750" y="2162175"/>
            <a:ext cx="3810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Шаг — одно обновление весов по порции</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из 128 изображений. Десять предварительных</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сетей проходят по 7 800 шагов</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на всех 50 000 изображениях.</a:t>
            </a:r>
          </a:p>
        </p:txBody>
      </p:sp>
      <p:sp>
        <p:nvSpPr>
          <p:cNvPr id="8" name="">
            <a:extLst xmlns:a="http://schemas.openxmlformats.org/drawingml/2006/main">
              <a:ext uri="{FF2B5EF4-FFF2-40B4-BE49-F238E27FC236}">
                <a16:creationId xmlns:a16="http://schemas.microsoft.com/office/drawing/2014/main" id="{E80D65BD-C66F-483B-9EC8-1859703E8785}"/>
              </a:ext>
            </a:extLst>
          </p:cNvPr>
          <p:cNvSpPr>
            <a:spLocks xmlns:a="http://schemas.openxmlformats.org/drawingml/2006/main" noGrp="1"/>
          </p:cNvSpPr>
          <p:nvPr/>
        </p:nvSpPr>
        <p:spPr>
          <a:xfrm xmlns:a="http://schemas.openxmlformats.org/drawingml/2006/main">
            <a:off x="476250" y="3371850"/>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E6127F61-840E-445D-BC2A-27E125CE9ED3}"/>
              </a:ext>
            </a:extLst>
          </p:cNvPr>
          <p:cNvSpPr>
            <a:spLocks xmlns:a="http://schemas.openxmlformats.org/drawingml/2006/main" noGrp="1"/>
          </p:cNvSpPr>
          <p:nvPr/>
        </p:nvSpPr>
        <p:spPr>
          <a:xfrm xmlns:a="http://schemas.openxmlformats.org/drawingml/2006/main">
            <a:off x="476250" y="3695700"/>
            <a:ext cx="390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Итоговое сравнение: случайные 25 000</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и 25 000 по оценке ошибки. Для каждого</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способа — четыре обучения с нуля</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по 78 000 шагов.</a:t>
            </a:r>
          </a:p>
        </p:txBody>
      </p:sp>
      <p:sp>
        <p:nvSpPr>
          <p:cNvPr id="10" name="">
            <a:extLst xmlns:a="http://schemas.openxmlformats.org/drawingml/2006/main">
              <a:ext uri="{FF2B5EF4-FFF2-40B4-BE49-F238E27FC236}">
                <a16:creationId xmlns:a16="http://schemas.microsoft.com/office/drawing/2014/main" id="{F60BF60E-D3E7-40A8-A1BF-92668ADDDB68}"/>
              </a:ext>
            </a:extLst>
          </p:cNvPr>
          <p:cNvSpPr>
            <a:spLocks xmlns:a="http://schemas.openxmlformats.org/drawingml/2006/main" noGrp="1"/>
          </p:cNvSpPr>
          <p:nvPr/>
        </p:nvSpPr>
        <p:spPr>
          <a:xfrm xmlns:a="http://schemas.openxmlformats.org/drawingml/2006/main">
            <a:off x="4857750" y="3371850"/>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3BFAB93F-CA56-42AF-B305-BA6255499E4D}"/>
              </a:ext>
            </a:extLst>
          </p:cNvPr>
          <p:cNvSpPr>
            <a:spLocks xmlns:a="http://schemas.openxmlformats.org/drawingml/2006/main" noGrp="1"/>
          </p:cNvSpPr>
          <p:nvPr/>
        </p:nvSpPr>
        <p:spPr>
          <a:xfrm xmlns:a="http://schemas.openxmlformats.org/drawingml/2006/main">
            <a:off x="4857750" y="3695700"/>
            <a:ext cx="3810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В паре способов начальные веса одинаковы.</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Число шагов после отбора сохраняется.</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Обучение на всех данных исключено,</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поэтому это ограниченная проверка.</a:t>
            </a:r>
          </a:p>
        </p:txBody>
      </p:sp>
    </p:spTree>
    <p:extLst>
      <p:ext uri="{BB962C8B-B14F-4D97-AF65-F5344CB8AC3E}">
        <p14:creationId xmlns:p14="http://schemas.microsoft.com/office/powerpoint/2010/main" val="931506147"/>
      </p:ext>
    </p:extLst>
  </p:cSld>
</p:sld>
</file>

<file path=ppt/slides/slide5.xml><?xml version="1.0" encoding="utf-8"?>
<p:sld xmlns:p="http://schemas.openxmlformats.org/presentationml/2006/main">
  <p:cSld>
    <p:bg>
      <p:bgPr>
        <a:solidFill xmlns:a="http://schemas.openxmlformats.org/drawingml/2006/main">
          <a:srgbClr val="FA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6A2E79-BFCE-41FD-8C3E-5744D05F3C00}"/>
              </a:ext>
            </a:extLst>
          </p:cNvPr>
          <p:cNvSpPr>
            <a:spLocks xmlns:a="http://schemas.openxmlformats.org/drawingml/2006/main" noGrp="1"/>
          </p:cNvSpPr>
          <p:nvPr/>
        </p:nvSpPr>
        <p:spPr>
          <a:xfrm xmlns:a="http://schemas.openxmlformats.org/drawingml/2006/main">
            <a:off x="476250" y="285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010"/>
                </a:solidFill>
                <a:latin typeface="Calibri"/>
                <a:ea typeface="Calibri"/>
                <a:cs typeface="Calibri"/>
              </a:defRPr>
            </a:defPPr>
          </a:lstStyle>
          <a:p xmlns:a="http://schemas.openxmlformats.org/drawingml/2006/main">
            <a:pPr>
              <a:defRPr sz="1650" b="0">
                <a:solidFill>
                  <a:srgbClr val="101010"/>
                </a:solidFill>
                <a:latin typeface="Calibri"/>
                <a:ea typeface="Calibri"/>
                <a:cs typeface="Calibri"/>
              </a:defRPr>
            </a:pPr>
            <a:r>
              <a:rPr sz="1650" b="0">
                <a:solidFill>
                  <a:srgbClr val="101010"/>
                </a:solidFill>
                <a:latin typeface="Calibri"/>
                <a:ea typeface="Calibri"/>
                <a:cs typeface="Calibri"/>
              </a:rPr>
              <a:t>Efficient NN</a:t>
            </a:r>
          </a:p>
        </p:txBody>
      </p:sp>
      <p:sp>
        <p:nvSpPr>
          <p:cNvPr id="2" name="">
            <a:extLst xmlns:a="http://schemas.openxmlformats.org/drawingml/2006/main">
              <a:ext uri="{FF2B5EF4-FFF2-40B4-BE49-F238E27FC236}">
                <a16:creationId xmlns:a16="http://schemas.microsoft.com/office/drawing/2014/main" id="{CB14B251-0B76-4BC4-AC65-D611E01C0F36}"/>
              </a:ext>
            </a:extLst>
          </p:cNvPr>
          <p:cNvSpPr>
            <a:spLocks xmlns:a="http://schemas.openxmlformats.org/drawingml/2006/main" noGrp="1"/>
          </p:cNvSpPr>
          <p:nvPr/>
        </p:nvSpPr>
        <p:spPr>
          <a:xfrm xmlns:a="http://schemas.openxmlformats.org/drawingml/2006/main">
            <a:off x="476250" y="838200"/>
            <a:ext cx="8191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88" b="1">
                <a:solidFill>
                  <a:srgbClr val="101010"/>
                </a:solidFill>
                <a:latin typeface="Calibri"/>
                <a:ea typeface="Calibri"/>
                <a:cs typeface="Calibri"/>
              </a:defRPr>
            </a:defPPr>
          </a:lstStyle>
          <a:p xmlns:a="http://schemas.openxmlformats.org/drawingml/2006/main">
            <a:pPr>
              <a:defRPr sz="2588" b="1">
                <a:solidFill>
                  <a:srgbClr val="101010"/>
                </a:solidFill>
                <a:latin typeface="Calibri"/>
                <a:ea typeface="Calibri"/>
                <a:cs typeface="Calibri"/>
              </a:defRPr>
            </a:pPr>
            <a:r>
              <a:rPr sz="2588" b="1">
                <a:solidFill>
                  <a:srgbClr val="101010"/>
                </a:solidFill>
                <a:latin typeface="Calibri"/>
                <a:ea typeface="Calibri"/>
                <a:cs typeface="Calibri"/>
              </a:rPr>
              <a:t>Как проходят предварительные обучения</a:t>
            </a:r>
          </a:p>
        </p:txBody>
      </p:sp>
      <p:sp>
        <p:nvSpPr>
          <p:cNvPr id="3" name="">
            <a:extLst xmlns:a="http://schemas.openxmlformats.org/drawingml/2006/main">
              <a:ext uri="{FF2B5EF4-FFF2-40B4-BE49-F238E27FC236}">
                <a16:creationId xmlns:a16="http://schemas.microsoft.com/office/drawing/2014/main" id="{09A21781-9533-4D2A-BDC6-D190CC3B270A}"/>
              </a:ext>
            </a:extLst>
          </p:cNvPr>
          <p:cNvSpPr>
            <a:spLocks xmlns:a="http://schemas.openxmlformats.org/drawingml/2006/main" noGrp="1"/>
          </p:cNvSpPr>
          <p:nvPr/>
        </p:nvSpPr>
        <p:spPr>
          <a:xfrm xmlns:a="http://schemas.openxmlformats.org/drawingml/2006/main">
            <a:off x="8239125" y="47910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0000FF"/>
                </a:solidFill>
                <a:latin typeface="Arial"/>
                <a:ea typeface="Arial"/>
                <a:cs typeface="Arial"/>
              </a:defRPr>
            </a:defPPr>
          </a:lstStyle>
          <a:p xmlns:a="http://schemas.openxmlformats.org/drawingml/2006/main">
            <a:pPr>
              <a:defRPr sz="975" b="0">
                <a:solidFill>
                  <a:srgbClr val="0000FF"/>
                </a:solidFill>
                <a:latin typeface="Arial"/>
                <a:ea typeface="Arial"/>
                <a:cs typeface="Arial"/>
              </a:defRPr>
            </a:pPr>
            <a:r>
              <a:rPr sz="975" b="0">
                <a:solidFill>
                  <a:srgbClr val="0000FF"/>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79F6F0D6-752F-4737-98C9-B19C4D805E3D}"/>
              </a:ext>
            </a:extLst>
          </p:cNvPr>
          <p:cNvSpPr>
            <a:spLocks xmlns:a="http://schemas.openxmlformats.org/drawingml/2006/main" noGrp="1"/>
          </p:cNvSpPr>
          <p:nvPr/>
        </p:nvSpPr>
        <p:spPr>
          <a:xfrm xmlns:a="http://schemas.openxmlformats.org/drawingml/2006/main">
            <a:off x="476250" y="1838325"/>
            <a:ext cx="29432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B04C568-A4B5-4509-A75F-3A95B9095D35}"/>
              </a:ext>
            </a:extLst>
          </p:cNvPr>
          <p:cNvSpPr>
            <a:spLocks xmlns:a="http://schemas.openxmlformats.org/drawingml/2006/main" noGrp="1"/>
          </p:cNvSpPr>
          <p:nvPr/>
        </p:nvSpPr>
        <p:spPr>
          <a:xfrm xmlns:a="http://schemas.openxmlformats.org/drawingml/2006/main">
            <a:off x="476250" y="2162175"/>
            <a:ext cx="29432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Завершены 8 из 10 сетей.</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Каждая прошла 7 800 шагов.</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Ошибка обучения — мера</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неуверенности в правильном ответе.</a:t>
            </a:r>
          </a:p>
        </p:txBody>
      </p:sp>
      <p:sp>
        <p:nvSpPr>
          <p:cNvPr id="6" name="">
            <a:extLst xmlns:a="http://schemas.openxmlformats.org/drawingml/2006/main">
              <a:ext uri="{FF2B5EF4-FFF2-40B4-BE49-F238E27FC236}">
                <a16:creationId xmlns:a16="http://schemas.microsoft.com/office/drawing/2014/main" id="{EABE70BB-8085-4ACC-A480-2F30C7635362}"/>
              </a:ext>
            </a:extLst>
          </p:cNvPr>
          <p:cNvSpPr>
            <a:spLocks xmlns:a="http://schemas.openxmlformats.org/drawingml/2006/main" noGrp="1"/>
          </p:cNvSpPr>
          <p:nvPr/>
        </p:nvSpPr>
        <p:spPr>
          <a:xfrm xmlns:a="http://schemas.openxmlformats.org/drawingml/2006/main">
            <a:off x="476250" y="34385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DC179875-68C8-48DB-A288-445714F4EA56}"/>
              </a:ext>
            </a:extLst>
          </p:cNvPr>
          <p:cNvSpPr>
            <a:spLocks xmlns:a="http://schemas.openxmlformats.org/drawingml/2006/main" noGrp="1"/>
          </p:cNvSpPr>
          <p:nvPr/>
        </p:nvSpPr>
        <p:spPr>
          <a:xfrm xmlns:a="http://schemas.openxmlformats.org/drawingml/2006/main">
            <a:off x="476250" y="37623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Последняя ошибка: 0.368–0.392.</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Кривые подтверждают обучение,</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но не преимущество отбора</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на проверочных изображениях.</a:t>
            </a:r>
          </a:p>
        </p:txBody>
      </p:sp>
      <p:pic>
        <p:nvPicPr>
          <p:cNvPr id="8" name="">
            <a:extLst xmlns:a="http://schemas.openxmlformats.org/drawingml/2006/main">
              <a:ext uri="{FF2B5EF4-FFF2-40B4-BE49-F238E27FC236}">
                <a16:creationId xmlns:a16="http://schemas.microsoft.com/office/drawing/2014/main" id="{FB97C94E-D813-48B1-9622-197FD388EF1D}"/>
              </a:ext>
            </a:extLst>
          </p:cNvPr>
          <p:cNvPicPr>
            <a:picLocks xmlns:a="http://schemas.openxmlformats.org/drawingml/2006/main" noChangeAspect="1"/>
          </p:cNvPicPr>
          <p:nvPr/>
        </p:nvPicPr>
        <p:blipFill>
          <a:blip xmlns:r="http://schemas.openxmlformats.org/officeDocument/2006/relationships" xmlns:a="http://schemas.openxmlformats.org/drawingml/2006/main" r:embed="Re505879d25ef49e9"/>
          <a:stretch xmlns:a="http://schemas.openxmlformats.org/drawingml/2006/main"/>
        </p:blipFill>
        <p:spPr>
          <a:xfrm xmlns:a="http://schemas.openxmlformats.org/drawingml/2006/main">
            <a:off x="3624355" y="1952625"/>
            <a:ext cx="5114740" cy="2647950"/>
          </a:xfrm>
          <a:prstGeom xmlns:a="http://schemas.openxmlformats.org/drawingml/2006/main" prst="rect">
            <a:avLst/>
          </a:prstGeom>
        </p:spPr>
      </p:pic>
    </p:spTree>
    <p:extLst>
      <p:ext uri="{BB962C8B-B14F-4D97-AF65-F5344CB8AC3E}">
        <p14:creationId xmlns:p14="http://schemas.microsoft.com/office/powerpoint/2010/main" val="1199979397"/>
      </p:ext>
    </p:extLst>
  </p:cSld>
</p:sld>
</file>

<file path=ppt/slides/slide6.xml><?xml version="1.0" encoding="utf-8"?>
<p:sld xmlns:p="http://schemas.openxmlformats.org/presentationml/2006/main">
  <p:cSld>
    <p:bg>
      <p:bgPr>
        <a:solidFill xmlns:a="http://schemas.openxmlformats.org/drawingml/2006/main">
          <a:srgbClr val="FA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AB2DDC-1CD0-4604-98B4-DE5A107B1904}"/>
              </a:ext>
            </a:extLst>
          </p:cNvPr>
          <p:cNvSpPr>
            <a:spLocks xmlns:a="http://schemas.openxmlformats.org/drawingml/2006/main" noGrp="1"/>
          </p:cNvSpPr>
          <p:nvPr/>
        </p:nvSpPr>
        <p:spPr>
          <a:xfrm xmlns:a="http://schemas.openxmlformats.org/drawingml/2006/main">
            <a:off x="476250" y="285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010"/>
                </a:solidFill>
                <a:latin typeface="Calibri"/>
                <a:ea typeface="Calibri"/>
                <a:cs typeface="Calibri"/>
              </a:defRPr>
            </a:defPPr>
          </a:lstStyle>
          <a:p xmlns:a="http://schemas.openxmlformats.org/drawingml/2006/main">
            <a:pPr>
              <a:defRPr sz="1650" b="0">
                <a:solidFill>
                  <a:srgbClr val="101010"/>
                </a:solidFill>
                <a:latin typeface="Calibri"/>
                <a:ea typeface="Calibri"/>
                <a:cs typeface="Calibri"/>
              </a:defRPr>
            </a:pPr>
            <a:r>
              <a:rPr sz="1650" b="0">
                <a:solidFill>
                  <a:srgbClr val="101010"/>
                </a:solidFill>
                <a:latin typeface="Calibri"/>
                <a:ea typeface="Calibri"/>
                <a:cs typeface="Calibri"/>
              </a:rPr>
              <a:t>Efficient NN</a:t>
            </a:r>
          </a:p>
        </p:txBody>
      </p:sp>
      <p:sp>
        <p:nvSpPr>
          <p:cNvPr id="2" name="">
            <a:extLst xmlns:a="http://schemas.openxmlformats.org/drawingml/2006/main">
              <a:ext uri="{FF2B5EF4-FFF2-40B4-BE49-F238E27FC236}">
                <a16:creationId xmlns:a16="http://schemas.microsoft.com/office/drawing/2014/main" id="{0A615AC4-3042-4B46-808F-AADC3CCB793B}"/>
              </a:ext>
            </a:extLst>
          </p:cNvPr>
          <p:cNvSpPr>
            <a:spLocks xmlns:a="http://schemas.openxmlformats.org/drawingml/2006/main" noGrp="1"/>
          </p:cNvSpPr>
          <p:nvPr/>
        </p:nvSpPr>
        <p:spPr>
          <a:xfrm xmlns:a="http://schemas.openxmlformats.org/drawingml/2006/main">
            <a:off x="476250" y="838200"/>
            <a:ext cx="8191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88" b="1">
                <a:solidFill>
                  <a:srgbClr val="101010"/>
                </a:solidFill>
                <a:latin typeface="Calibri"/>
                <a:ea typeface="Calibri"/>
                <a:cs typeface="Calibri"/>
              </a:defRPr>
            </a:defPPr>
          </a:lstStyle>
          <a:p xmlns:a="http://schemas.openxmlformats.org/drawingml/2006/main">
            <a:pPr>
              <a:defRPr sz="2588" b="1">
                <a:solidFill>
                  <a:srgbClr val="101010"/>
                </a:solidFill>
                <a:latin typeface="Calibri"/>
                <a:ea typeface="Calibri"/>
                <a:cs typeface="Calibri"/>
              </a:defRPr>
            </a:pPr>
            <a:r>
              <a:rPr sz="2588" b="1">
                <a:solidFill>
                  <a:srgbClr val="101010"/>
                </a:solidFill>
                <a:latin typeface="Calibri"/>
                <a:ea typeface="Calibri"/>
                <a:cs typeface="Calibri"/>
              </a:rPr>
              <a:t>Что видно в оценках изображений</a:t>
            </a:r>
          </a:p>
        </p:txBody>
      </p:sp>
      <p:sp>
        <p:nvSpPr>
          <p:cNvPr id="3" name="">
            <a:extLst xmlns:a="http://schemas.openxmlformats.org/drawingml/2006/main">
              <a:ext uri="{FF2B5EF4-FFF2-40B4-BE49-F238E27FC236}">
                <a16:creationId xmlns:a16="http://schemas.microsoft.com/office/drawing/2014/main" id="{78AEC437-162B-4DBE-BA2B-36D8213B8053}"/>
              </a:ext>
            </a:extLst>
          </p:cNvPr>
          <p:cNvSpPr>
            <a:spLocks xmlns:a="http://schemas.openxmlformats.org/drawingml/2006/main" noGrp="1"/>
          </p:cNvSpPr>
          <p:nvPr/>
        </p:nvSpPr>
        <p:spPr>
          <a:xfrm xmlns:a="http://schemas.openxmlformats.org/drawingml/2006/main">
            <a:off x="8239125" y="47910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0000FF"/>
                </a:solidFill>
                <a:latin typeface="Arial"/>
                <a:ea typeface="Arial"/>
                <a:cs typeface="Arial"/>
              </a:defRPr>
            </a:defPPr>
          </a:lstStyle>
          <a:p xmlns:a="http://schemas.openxmlformats.org/drawingml/2006/main">
            <a:pPr>
              <a:defRPr sz="975" b="0">
                <a:solidFill>
                  <a:srgbClr val="0000FF"/>
                </a:solidFill>
                <a:latin typeface="Arial"/>
                <a:ea typeface="Arial"/>
                <a:cs typeface="Arial"/>
              </a:defRPr>
            </a:pPr>
            <a:r>
              <a:rPr sz="975" b="0">
                <a:solidFill>
                  <a:srgbClr val="0000FF"/>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4BDFB45F-E810-4DD7-979B-97884E6448AE}"/>
              </a:ext>
            </a:extLst>
          </p:cNvPr>
          <p:cNvSpPr>
            <a:spLocks xmlns:a="http://schemas.openxmlformats.org/drawingml/2006/main" noGrp="1"/>
          </p:cNvSpPr>
          <p:nvPr/>
        </p:nvSpPr>
        <p:spPr>
          <a:xfrm xmlns:a="http://schemas.openxmlformats.org/drawingml/2006/main">
            <a:off x="476250" y="1752600"/>
            <a:ext cx="3943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Среднее по 8 сетям пока промежуточное.</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Гистограмма показывает, что оценки различаются.</a:t>
            </a:r>
          </a:p>
        </p:txBody>
      </p:sp>
      <p:sp>
        <p:nvSpPr>
          <p:cNvPr id="5" name="">
            <a:extLst xmlns:a="http://schemas.openxmlformats.org/drawingml/2006/main">
              <a:ext uri="{FF2B5EF4-FFF2-40B4-BE49-F238E27FC236}">
                <a16:creationId xmlns:a16="http://schemas.microsoft.com/office/drawing/2014/main" id="{A4047780-5B89-4DEF-B905-D08B62C9B7F6}"/>
              </a:ext>
            </a:extLst>
          </p:cNvPr>
          <p:cNvSpPr>
            <a:spLocks xmlns:a="http://schemas.openxmlformats.org/drawingml/2006/main" noGrp="1"/>
          </p:cNvSpPr>
          <p:nvPr/>
        </p:nvSpPr>
        <p:spPr>
          <a:xfrm xmlns:a="http://schemas.openxmlformats.org/drawingml/2006/main">
            <a:off x="4857750" y="1752600"/>
            <a:ext cx="385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Ранговая корреляция — сходство порядка</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изображений. Между сетями: 0.43–0.71.</a:t>
            </a:r>
          </a:p>
        </p:txBody>
      </p:sp>
      <p:pic>
        <p:nvPicPr>
          <p:cNvPr id="6" name="">
            <a:extLst xmlns:a="http://schemas.openxmlformats.org/drawingml/2006/main">
              <a:ext uri="{FF2B5EF4-FFF2-40B4-BE49-F238E27FC236}">
                <a16:creationId xmlns:a16="http://schemas.microsoft.com/office/drawing/2014/main" id="{A0CC0953-12C5-439C-B4BA-DCA38E09386D}"/>
              </a:ext>
            </a:extLst>
          </p:cNvPr>
          <p:cNvPicPr>
            <a:picLocks xmlns:a="http://schemas.openxmlformats.org/drawingml/2006/main" noChangeAspect="1"/>
          </p:cNvPicPr>
          <p:nvPr/>
        </p:nvPicPr>
        <p:blipFill>
          <a:blip xmlns:r="http://schemas.openxmlformats.org/officeDocument/2006/relationships" xmlns:a="http://schemas.openxmlformats.org/drawingml/2006/main" r:embed="R76ae2c713bb34d0a"/>
          <a:stretch xmlns:a="http://schemas.openxmlformats.org/drawingml/2006/main"/>
        </p:blipFill>
        <p:spPr>
          <a:xfrm xmlns:a="http://schemas.openxmlformats.org/drawingml/2006/main">
            <a:off x="547280" y="2657475"/>
            <a:ext cx="4010840" cy="20764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9BB03EA3-EFD4-4D02-A177-337E04D89A00}"/>
              </a:ext>
            </a:extLst>
          </p:cNvPr>
          <p:cNvPicPr>
            <a:picLocks xmlns:a="http://schemas.openxmlformats.org/drawingml/2006/main" noChangeAspect="1"/>
          </p:cNvPicPr>
          <p:nvPr/>
        </p:nvPicPr>
        <p:blipFill>
          <a:blip xmlns:r="http://schemas.openxmlformats.org/officeDocument/2006/relationships" xmlns:a="http://schemas.openxmlformats.org/drawingml/2006/main" r:embed="R8ed243391a424193"/>
          <a:stretch xmlns:a="http://schemas.openxmlformats.org/drawingml/2006/main"/>
        </p:blipFill>
        <p:spPr>
          <a:xfrm xmlns:a="http://schemas.openxmlformats.org/drawingml/2006/main">
            <a:off x="5467056" y="2447925"/>
            <a:ext cx="2762838" cy="2419350"/>
          </a:xfrm>
          <a:prstGeom xmlns:a="http://schemas.openxmlformats.org/drawingml/2006/main" prst="rect">
            <a:avLst/>
          </a:prstGeom>
        </p:spPr>
      </p:pic>
    </p:spTree>
    <p:extLst>
      <p:ext uri="{BB962C8B-B14F-4D97-AF65-F5344CB8AC3E}">
        <p14:creationId xmlns:p14="http://schemas.microsoft.com/office/powerpoint/2010/main" val="1576396635"/>
      </p:ext>
    </p:extLst>
  </p:cSld>
</p:sld>
</file>

<file path=ppt/slides/slide7.xml><?xml version="1.0" encoding="utf-8"?>
<p:sld xmlns:p="http://schemas.openxmlformats.org/presentationml/2006/main">
  <p:cSld>
    <p:bg>
      <p:bgPr>
        <a:solidFill xmlns:a="http://schemas.openxmlformats.org/drawingml/2006/main">
          <a:srgbClr val="FA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EFC99B-86D5-4679-9125-455EB1B428BB}"/>
              </a:ext>
            </a:extLst>
          </p:cNvPr>
          <p:cNvSpPr>
            <a:spLocks xmlns:a="http://schemas.openxmlformats.org/drawingml/2006/main" noGrp="1"/>
          </p:cNvSpPr>
          <p:nvPr/>
        </p:nvSpPr>
        <p:spPr>
          <a:xfrm xmlns:a="http://schemas.openxmlformats.org/drawingml/2006/main">
            <a:off x="476250" y="285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010"/>
                </a:solidFill>
                <a:latin typeface="Calibri"/>
                <a:ea typeface="Calibri"/>
                <a:cs typeface="Calibri"/>
              </a:defRPr>
            </a:defPPr>
          </a:lstStyle>
          <a:p xmlns:a="http://schemas.openxmlformats.org/drawingml/2006/main">
            <a:pPr>
              <a:defRPr sz="1650" b="0">
                <a:solidFill>
                  <a:srgbClr val="101010"/>
                </a:solidFill>
                <a:latin typeface="Calibri"/>
                <a:ea typeface="Calibri"/>
                <a:cs typeface="Calibri"/>
              </a:defRPr>
            </a:pPr>
            <a:r>
              <a:rPr sz="1650" b="0">
                <a:solidFill>
                  <a:srgbClr val="101010"/>
                </a:solidFill>
                <a:latin typeface="Calibri"/>
                <a:ea typeface="Calibri"/>
                <a:cs typeface="Calibri"/>
              </a:rPr>
              <a:t>Efficient NN</a:t>
            </a:r>
          </a:p>
        </p:txBody>
      </p:sp>
      <p:sp>
        <p:nvSpPr>
          <p:cNvPr id="2" name="">
            <a:extLst xmlns:a="http://schemas.openxmlformats.org/drawingml/2006/main">
              <a:ext uri="{FF2B5EF4-FFF2-40B4-BE49-F238E27FC236}">
                <a16:creationId xmlns:a16="http://schemas.microsoft.com/office/drawing/2014/main" id="{44816233-69EF-4976-AE12-1790B9726E2F}"/>
              </a:ext>
            </a:extLst>
          </p:cNvPr>
          <p:cNvSpPr>
            <a:spLocks xmlns:a="http://schemas.openxmlformats.org/drawingml/2006/main" noGrp="1"/>
          </p:cNvSpPr>
          <p:nvPr/>
        </p:nvSpPr>
        <p:spPr>
          <a:xfrm xmlns:a="http://schemas.openxmlformats.org/drawingml/2006/main">
            <a:off x="476250" y="838200"/>
            <a:ext cx="8191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88" b="1">
                <a:solidFill>
                  <a:srgbClr val="101010"/>
                </a:solidFill>
                <a:latin typeface="Calibri"/>
                <a:ea typeface="Calibri"/>
                <a:cs typeface="Calibri"/>
              </a:defRPr>
            </a:defPPr>
          </a:lstStyle>
          <a:p xmlns:a="http://schemas.openxmlformats.org/drawingml/2006/main">
            <a:pPr>
              <a:defRPr sz="2588" b="1">
                <a:solidFill>
                  <a:srgbClr val="101010"/>
                </a:solidFill>
                <a:latin typeface="Calibri"/>
                <a:ea typeface="Calibri"/>
                <a:cs typeface="Calibri"/>
              </a:defRPr>
            </a:pPr>
            <a:r>
              <a:rPr sz="2588" b="1">
                <a:solidFill>
                  <a:srgbClr val="101010"/>
                </a:solidFill>
                <a:latin typeface="Calibri"/>
                <a:ea typeface="Calibri"/>
                <a:cs typeface="Calibri"/>
              </a:rPr>
              <a:t>Что будет считаться воспроизведением</a:t>
            </a:r>
          </a:p>
        </p:txBody>
      </p:sp>
      <p:sp>
        <p:nvSpPr>
          <p:cNvPr id="3" name="">
            <a:extLst xmlns:a="http://schemas.openxmlformats.org/drawingml/2006/main">
              <a:ext uri="{FF2B5EF4-FFF2-40B4-BE49-F238E27FC236}">
                <a16:creationId xmlns:a16="http://schemas.microsoft.com/office/drawing/2014/main" id="{450915ED-CCF8-412D-BF29-91FB8DF7C4FE}"/>
              </a:ext>
            </a:extLst>
          </p:cNvPr>
          <p:cNvSpPr>
            <a:spLocks xmlns:a="http://schemas.openxmlformats.org/drawingml/2006/main" noGrp="1"/>
          </p:cNvSpPr>
          <p:nvPr/>
        </p:nvSpPr>
        <p:spPr>
          <a:xfrm xmlns:a="http://schemas.openxmlformats.org/drawingml/2006/main">
            <a:off x="8239125" y="47910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0000FF"/>
                </a:solidFill>
                <a:latin typeface="Arial"/>
                <a:ea typeface="Arial"/>
                <a:cs typeface="Arial"/>
              </a:defRPr>
            </a:defPPr>
          </a:lstStyle>
          <a:p xmlns:a="http://schemas.openxmlformats.org/drawingml/2006/main">
            <a:pPr>
              <a:defRPr sz="975" b="0">
                <a:solidFill>
                  <a:srgbClr val="0000FF"/>
                </a:solidFill>
                <a:latin typeface="Arial"/>
                <a:ea typeface="Arial"/>
                <a:cs typeface="Arial"/>
              </a:defRPr>
            </a:pPr>
            <a:r>
              <a:rPr sz="975" b="0">
                <a:solidFill>
                  <a:srgbClr val="0000FF"/>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9B2DD541-246E-4AB0-8B8B-48E20E307ACC}"/>
              </a:ext>
            </a:extLst>
          </p:cNvPr>
          <p:cNvSpPr>
            <a:spLocks xmlns:a="http://schemas.openxmlformats.org/drawingml/2006/main" noGrp="1"/>
          </p:cNvSpPr>
          <p:nvPr/>
        </p:nvSpPr>
        <p:spPr>
          <a:xfrm xmlns:a="http://schemas.openxmlformats.org/drawingml/2006/main">
            <a:off x="476250" y="1857375"/>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91E2FB0-C882-4DC3-8C21-0EEE54533ECB}"/>
              </a:ext>
            </a:extLst>
          </p:cNvPr>
          <p:cNvSpPr>
            <a:spLocks xmlns:a="http://schemas.openxmlformats.org/drawingml/2006/main" noGrp="1"/>
          </p:cNvSpPr>
          <p:nvPr/>
        </p:nvSpPr>
        <p:spPr>
          <a:xfrm xmlns:a="http://schemas.openxmlformats.org/drawingml/2006/main">
            <a:off x="476250" y="2181225"/>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Точность выбранной половины сравнивается</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со случайной при одинаковом числе шагов.</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Нужно завершить все четыре повторения</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для каждого способа и оценить разброс.</a:t>
            </a:r>
          </a:p>
        </p:txBody>
      </p:sp>
      <p:sp>
        <p:nvSpPr>
          <p:cNvPr id="6" name="">
            <a:extLst xmlns:a="http://schemas.openxmlformats.org/drawingml/2006/main">
              <a:ext uri="{FF2B5EF4-FFF2-40B4-BE49-F238E27FC236}">
                <a16:creationId xmlns:a16="http://schemas.microsoft.com/office/drawing/2014/main" id="{535C0967-0099-408C-AA5D-F442C6044DE2}"/>
              </a:ext>
            </a:extLst>
          </p:cNvPr>
          <p:cNvSpPr>
            <a:spLocks xmlns:a="http://schemas.openxmlformats.org/drawingml/2006/main" noGrp="1"/>
          </p:cNvSpPr>
          <p:nvPr/>
        </p:nvSpPr>
        <p:spPr>
          <a:xfrm xmlns:a="http://schemas.openxmlformats.org/drawingml/2006/main">
            <a:off x="4857750" y="1857375"/>
            <a:ext cx="38004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5C27B5F-7A24-4715-B6C5-8883DC987ABC}"/>
              </a:ext>
            </a:extLst>
          </p:cNvPr>
          <p:cNvSpPr>
            <a:spLocks xmlns:a="http://schemas.openxmlformats.org/drawingml/2006/main" noGrp="1"/>
          </p:cNvSpPr>
          <p:nvPr/>
        </p:nvSpPr>
        <p:spPr>
          <a:xfrm xmlns:a="http://schemas.openxmlformats.org/drawingml/2006/main">
            <a:off x="4857750" y="2181225"/>
            <a:ext cx="38004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Проверяются сохранённые вероятности,</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25 000 уникальных индексов и число шагов.</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Оригинальные рисунки и наши измерения</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разделены в блокноте и отчёте.</a:t>
            </a:r>
          </a:p>
        </p:txBody>
      </p:sp>
      <p:sp>
        <p:nvSpPr>
          <p:cNvPr id="8" name="">
            <a:extLst xmlns:a="http://schemas.openxmlformats.org/drawingml/2006/main">
              <a:ext uri="{FF2B5EF4-FFF2-40B4-BE49-F238E27FC236}">
                <a16:creationId xmlns:a16="http://schemas.microsoft.com/office/drawing/2014/main" id="{1EF6855C-1248-4E35-87DA-E1A2A9788F23}"/>
              </a:ext>
            </a:extLst>
          </p:cNvPr>
          <p:cNvSpPr>
            <a:spLocks xmlns:a="http://schemas.openxmlformats.org/drawingml/2006/main" noGrp="1"/>
          </p:cNvSpPr>
          <p:nvPr/>
        </p:nvSpPr>
        <p:spPr>
          <a:xfrm xmlns:a="http://schemas.openxmlformats.org/drawingml/2006/main">
            <a:off x="476250" y="3533775"/>
            <a:ext cx="81819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FF"/>
                </a:solidFill>
                <a:latin typeface="Calibri"/>
                <a:ea typeface="Calibri"/>
                <a:cs typeface="Calibri"/>
              </a:defRPr>
            </a:defPPr>
          </a:lstStyle>
          <a:p xmlns:a="http://schemas.openxmlformats.org/drawingml/2006/main">
            <a:pPr>
              <a:defRPr sz="1875" b="0">
                <a:solidFill>
                  <a:srgbClr val="0000FF"/>
                </a:solidFill>
                <a:latin typeface="Calibri"/>
                <a:ea typeface="Calibri"/>
                <a:cs typeface="Calibri"/>
              </a:defRPr>
            </a:pPr>
            <a:r>
              <a:rPr sz="1875" b="0">
                <a:solidFill>
                  <a:srgbClr val="0000FF"/>
                </a:solidFill>
                <a:latin typeface="Calibri"/>
                <a:ea typeface="Calibri"/>
                <a:cs typeface="Calibri"/>
              </a:rPr>
              <a:t>Итоговых обучений: 0 из 8.</a:t>
            </a:r>
          </a:p>
          <a:p xmlns:a="http://schemas.openxmlformats.org/drawingml/2006/main">
            <a:pPr>
              <a:defRPr sz="1875" b="0">
                <a:solidFill>
                  <a:srgbClr val="0000FF"/>
                </a:solidFill>
                <a:latin typeface="Calibri"/>
                <a:ea typeface="Calibri"/>
                <a:cs typeface="Calibri"/>
              </a:defRPr>
            </a:pPr>
            <a:r>
              <a:rPr sz="1875" b="0">
                <a:solidFill>
                  <a:srgbClr val="0000FF"/>
                </a:solidFill>
                <a:latin typeface="Calibri"/>
                <a:ea typeface="Calibri"/>
                <a:cs typeface="Calibri"/>
              </a:rPr>
              <a:t>Вывод о преимуществе отбора пока не получен.</a:t>
            </a:r>
          </a:p>
        </p:txBody>
      </p:sp>
      <p:sp>
        <p:nvSpPr>
          <p:cNvPr id="9" name="">
            <a:extLst xmlns:a="http://schemas.openxmlformats.org/drawingml/2006/main">
              <a:ext uri="{FF2B5EF4-FFF2-40B4-BE49-F238E27FC236}">
                <a16:creationId xmlns:a16="http://schemas.microsoft.com/office/drawing/2014/main" id="{38A4B3DD-6C80-470F-8E39-2B8186A3BD86}"/>
              </a:ext>
            </a:extLst>
          </p:cNvPr>
          <p:cNvSpPr>
            <a:spLocks xmlns:a="http://schemas.openxmlformats.org/drawingml/2006/main" noGrp="1"/>
          </p:cNvSpPr>
          <p:nvPr/>
        </p:nvSpPr>
        <p:spPr>
          <a:xfrm xmlns:a="http://schemas.openxmlformats.org/drawingml/2006/main">
            <a:off x="476250" y="4476750"/>
            <a:ext cx="809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01010"/>
                </a:solidFill>
                <a:latin typeface="Arial"/>
                <a:ea typeface="Arial"/>
                <a:cs typeface="Arial"/>
              </a:defRPr>
            </a:defPPr>
          </a:lstStyle>
          <a:p xmlns:a="http://schemas.openxmlformats.org/drawingml/2006/main">
            <a:pPr>
              <a:defRPr sz="1125" b="0">
                <a:solidFill>
                  <a:srgbClr val="101010"/>
                </a:solidFill>
                <a:latin typeface="Arial"/>
                <a:ea typeface="Arial"/>
                <a:cs typeface="Arial"/>
              </a:defRPr>
            </a:pPr>
            <a:r>
              <a:rPr sz="1125" b="0">
                <a:solidFill>
                  <a:srgbClr val="101010"/>
                </a:solidFill>
                <a:latin typeface="Arial"/>
                <a:ea typeface="Arial"/>
                <a:cs typeface="Arial"/>
              </a:rPr>
              <a:t>Полного варианта нет: сохранение точности относительно всех 50 000 изображений не проверяется.</a:t>
            </a:r>
          </a:p>
        </p:txBody>
      </p:sp>
    </p:spTree>
    <p:extLst>
      <p:ext uri="{BB962C8B-B14F-4D97-AF65-F5344CB8AC3E}">
        <p14:creationId xmlns:p14="http://schemas.microsoft.com/office/powerpoint/2010/main" val="6183729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2026-10-10T20:56:42.5710000Z</dcterms:created>
  <dcterms:modified xsi:type="dcterms:W3CDTF">2026-10-10T20:56:42.5710000Z</dcterms:modified>
</coreProperties>
</file>